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1"/>
  </p:sldMasterIdLst>
  <p:notesMasterIdLst>
    <p:notesMasterId r:id="rId14"/>
  </p:notesMasterIdLst>
  <p:handoutMasterIdLst>
    <p:handoutMasterId r:id="rId15"/>
  </p:handoutMasterIdLst>
  <p:sldIdLst>
    <p:sldId id="428" r:id="rId2"/>
    <p:sldId id="425" r:id="rId3"/>
    <p:sldId id="429" r:id="rId4"/>
    <p:sldId id="433" r:id="rId5"/>
    <p:sldId id="441" r:id="rId6"/>
    <p:sldId id="443" r:id="rId7"/>
    <p:sldId id="447" r:id="rId8"/>
    <p:sldId id="436" r:id="rId9"/>
    <p:sldId id="437" r:id="rId10"/>
    <p:sldId id="445" r:id="rId11"/>
    <p:sldId id="446" r:id="rId12"/>
    <p:sldId id="42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郭瀚阳" initials="瀚郭" lastIdx="4" clrIdx="0">
    <p:extLst>
      <p:ext uri="{19B8F6BF-5375-455C-9EA6-DF929625EA0E}">
        <p15:presenceInfo xmlns:p15="http://schemas.microsoft.com/office/powerpoint/2012/main" userId="S::guohy36@ms.sysu.edu.cn::ef259d46-19e9-45ff-9982-0e8810bbed9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00"/>
    <a:srgbClr val="0B51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86501" autoAdjust="0"/>
  </p:normalViewPr>
  <p:slideViewPr>
    <p:cSldViewPr snapToGrid="0" snapToObjects="1">
      <p:cViewPr varScale="1">
        <p:scale>
          <a:sx n="86" d="100"/>
          <a:sy n="86" d="100"/>
        </p:scale>
        <p:origin x="68" y="216"/>
      </p:cViewPr>
      <p:guideLst/>
    </p:cSldViewPr>
  </p:slideViewPr>
  <p:outlineViewPr>
    <p:cViewPr>
      <p:scale>
        <a:sx n="33" d="100"/>
        <a:sy n="33" d="100"/>
      </p:scale>
      <p:origin x="0" y="-2736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83" d="100"/>
          <a:sy n="83" d="100"/>
        </p:scale>
        <p:origin x="3060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郭瀚阳" userId="ef259d46-19e9-45ff-9982-0e8810bbed94" providerId="ADAL" clId="{F1F7A6B0-55D4-4DA3-8C05-8BAECB123FB2}"/>
    <pc:docChg chg="modSld">
      <pc:chgData name="郭瀚阳" userId="ef259d46-19e9-45ff-9982-0e8810bbed94" providerId="ADAL" clId="{F1F7A6B0-55D4-4DA3-8C05-8BAECB123FB2}" dt="2025-01-19T06:20:42.096" v="6"/>
      <pc:docMkLst>
        <pc:docMk/>
      </pc:docMkLst>
      <pc:sldChg chg="modCm">
        <pc:chgData name="郭瀚阳" userId="ef259d46-19e9-45ff-9982-0e8810bbed94" providerId="ADAL" clId="{F1F7A6B0-55D4-4DA3-8C05-8BAECB123FB2}" dt="2025-01-19T06:16:44.900" v="3"/>
        <pc:sldMkLst>
          <pc:docMk/>
          <pc:sldMk cId="1862097689" sldId="429"/>
        </pc:sldMkLst>
      </pc:sldChg>
      <pc:sldChg chg="modCm">
        <pc:chgData name="郭瀚阳" userId="ef259d46-19e9-45ff-9982-0e8810bbed94" providerId="ADAL" clId="{F1F7A6B0-55D4-4DA3-8C05-8BAECB123FB2}" dt="2025-01-19T06:20:42.096" v="6"/>
        <pc:sldMkLst>
          <pc:docMk/>
          <pc:sldMk cId="2307985935" sldId="434"/>
        </pc:sldMkLst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1-19T14:14:33.538" idx="1">
    <p:pos x="10" y="10"/>
    <p:text>1.感觉这一页和上一页过度有点突然，具体是什么问题，对应了什么tool好像没有说明（应该是测试的tool）
2.SOTA大写
3.no generalization应该是scalability？可以用一些比较专业的术语</p:text>
    <p:extLst>
      <p:ext uri="{C676402C-5697-4E1C-873F-D02D1690AC5C}">
        <p15:threadingInfo xmlns:p15="http://schemas.microsoft.com/office/powerpoint/2012/main" timeZoneBias="-48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4384B8C0-6A30-FD8C-F609-D4AAFF8FFE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1D6D5BA-CEB4-9DD2-A595-28110166D11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FF252E-7ED6-4F0C-A1D3-844C969E9414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D63FA05-87D7-2902-1AEC-48062BC603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3C3A28B-3F48-0F85-6536-AF0161375A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38FD6A-3964-41E0-9A85-F7B80628F1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539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440A07-CB81-B94E-8486-6299C881C602}" type="datetimeFigureOut">
              <a:rPr kumimoji="1" lang="zh-CN" altLang="en-US" smtClean="0"/>
              <a:t>2025/3/17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9EFDB2-DEE3-F041-A376-A8AE77F3A62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8474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84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dirty="0"/>
              <a:t>VR</a:t>
            </a:r>
            <a:r>
              <a:rPr kumimoji="1" lang="zh-CN" altLang="en-US" sz="1200" dirty="0"/>
              <a:t>研究背景：许多</a:t>
            </a:r>
            <a:r>
              <a:rPr kumimoji="1" lang="en-US" altLang="zh-CN" sz="1200" dirty="0"/>
              <a:t>bug</a:t>
            </a:r>
            <a:r>
              <a:rPr kumimoji="1" lang="zh-CN" altLang="en-US" sz="1200" dirty="0"/>
              <a:t>、人工检测困难且费事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20528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01366-D851-155B-FC70-BA9DBF35F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C5CFCA-67A4-1AF5-641D-90D9912E8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F01A14-A52F-F930-AD81-BA4198889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dirty="0"/>
              <a:t>场景探索能力差、没有通用性问题、无法解决线性和非线性任务、无法发现潜在问题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6F8414-2430-C123-2D80-3198AE22F9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7967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5B02B-5189-1732-05E4-319670AE5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4F68B9A-B8C9-56AF-DF47-117113D1CE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09CDAFE-D8E9-C844-8549-A6F82EC13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200" dirty="0"/>
              <a:t>目标是设计一个足够聪明的智能体，从而能够提高这些指标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FD5850-CFAB-75D3-3D3D-39C1C08009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046465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18504-B1AA-F2DF-3565-1AF8FAFE4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CC8ADE-E729-9EA8-7E32-70CFF0E55C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5BACA3C-5DD6-6AFC-4D9F-85540BCECD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73883F-0390-2DFA-281A-D06947ACDF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2445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CB1C4-F418-8C08-E466-AE5401F41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20CD6EE-5457-7749-9BF0-B0E32F95D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D224B0-0628-2E62-3250-AC165A9D9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9527CF-63E5-EE3F-637D-55759031CA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59831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73053-1482-810E-53FD-13DE4D13E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869A4EE-5F44-3EB0-9DC2-C14CFD0EBF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4027D6D-3F61-6733-AF90-0BFDE0233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174667-3C8D-22DD-2FBF-CBD75C6011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29716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5610E-C035-0E6F-BCAD-8301106A6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E47295-5F90-18C2-6FBE-8E58AEF14F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C483334-AAB2-1490-B3BD-4E362BD71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06F204-A986-906C-D8F3-6E3A6AD7D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89570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77BB5-3F6F-44F9-C5CF-5917596A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AEB3518-A850-1036-B612-ED0A38228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365D87-D6A9-F53A-4D8F-A1DA5A592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CDC3FC-D23F-2A7D-3203-C6F5C032B8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87180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B1169-1FA4-BBED-24E6-56DE5C7B8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A0E6438-B6FF-5962-F89E-4AF40829D6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61C538-3C08-AF9B-5969-7FCF981AD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6B30C0-F8D5-6001-186D-1EF3CD5212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35080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0A5FB-36C6-7F38-D96A-1E5C7CCDA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743F21D-4152-EB0B-F7B3-7F3024852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18955AC-4BF3-7DDD-B4C4-7682F6E07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F0C03A-1FBB-9368-4B9A-8D5D751866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EFDB2-DEE3-F041-A376-A8AE77F3A626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81959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3241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411B78-907C-8C41-9796-763990A089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09" y="-1"/>
            <a:ext cx="10210576" cy="928685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3600" b="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在这里填，求不弄乱样式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45E814-C6A3-4240-9428-811D560E87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6709" y="1227147"/>
            <a:ext cx="11199741" cy="523220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marL="360000" indent="-360000">
              <a:lnSpc>
                <a:spcPct val="100000"/>
              </a:lnSpc>
              <a:spcBef>
                <a:spcPts val="0"/>
              </a:spcBef>
              <a:buClr>
                <a:srgbClr val="0B5128"/>
              </a:buClr>
              <a:buFont typeface="Wingdings" pitchFamily="2" charset="2"/>
              <a:buChar char="n"/>
              <a:defRPr sz="2800" b="1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lnSpc>
                <a:spcPct val="150000"/>
              </a:lnSpc>
              <a:buClr>
                <a:srgbClr val="0B5128"/>
              </a:buClr>
              <a:buFont typeface="Wingdings" pitchFamily="2" charset="2"/>
              <a:buChar char="Ø"/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lnSpc>
                <a:spcPct val="150000"/>
              </a:lnSpc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在这里填，求不弄乱样式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F3CF80-3F43-074A-8FA4-A9800BF74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7811" y="6338999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2000">
                <a:solidFill>
                  <a:srgbClr val="0B51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4E334DFF-A8DE-B148-81B1-4F37B46AC470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cxnSp>
        <p:nvCxnSpPr>
          <p:cNvPr id="7" name="直接连接符 9">
            <a:extLst>
              <a:ext uri="{FF2B5EF4-FFF2-40B4-BE49-F238E27FC236}">
                <a16:creationId xmlns:a16="http://schemas.microsoft.com/office/drawing/2014/main" id="{2A20E628-2C5A-D44D-B49A-6EC863E2FED0}"/>
              </a:ext>
            </a:extLst>
          </p:cNvPr>
          <p:cNvCxnSpPr>
            <a:cxnSpLocks/>
          </p:cNvCxnSpPr>
          <p:nvPr userDrawn="1"/>
        </p:nvCxnSpPr>
        <p:spPr>
          <a:xfrm>
            <a:off x="0" y="928688"/>
            <a:ext cx="12192000" cy="0"/>
          </a:xfrm>
          <a:prstGeom prst="line">
            <a:avLst/>
          </a:prstGeom>
          <a:ln w="38100">
            <a:solidFill>
              <a:srgbClr val="0B51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E:\学校\20121109221446303940.jpg">
            <a:extLst>
              <a:ext uri="{FF2B5EF4-FFF2-40B4-BE49-F238E27FC236}">
                <a16:creationId xmlns:a16="http://schemas.microsoft.com/office/drawing/2014/main" id="{F4CF1D26-F1B0-6D44-963A-914506CBF8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1845" y="434104"/>
            <a:ext cx="989166" cy="989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832BD33-9930-6048-9B87-2B725701F3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89" y="6206283"/>
            <a:ext cx="1493521" cy="497841"/>
          </a:xfrm>
          <a:prstGeom prst="rect">
            <a:avLst/>
          </a:prstGeom>
        </p:spPr>
      </p:pic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605E32E1-50A6-8E45-BD93-93794E264CA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97230" y="1942078"/>
            <a:ext cx="4354455" cy="581057"/>
          </a:xfrm>
          <a:prstGeom prst="rect">
            <a:avLst/>
          </a:prstGeom>
        </p:spPr>
        <p:txBody>
          <a:bodyPr wrap="square" lIns="90000" anchor="t" anchorCtr="0">
            <a:spAutoFit/>
          </a:bodyPr>
          <a:lstStyle>
            <a:lvl1pPr marL="360000" indent="-360000">
              <a:lnSpc>
                <a:spcPct val="150000"/>
              </a:lnSpc>
              <a:spcBef>
                <a:spcPts val="0"/>
              </a:spcBef>
              <a:buClr>
                <a:srgbClr val="0B5128"/>
              </a:buClr>
              <a:buFont typeface="Wingdings" pitchFamily="2" charset="2"/>
              <a:buChar char="Ø"/>
              <a:defRPr sz="2400" b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lnSpc>
                <a:spcPct val="150000"/>
              </a:lnSpc>
              <a:buClr>
                <a:srgbClr val="0B5128"/>
              </a:buClr>
              <a:buFont typeface="Wingdings" pitchFamily="2" charset="2"/>
              <a:buChar char="Ø"/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lnSpc>
                <a:spcPct val="150000"/>
              </a:lnSpc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在这里填，求不弄乱样式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9409360-B745-984C-BDF1-2A9786E517B7}"/>
              </a:ext>
            </a:extLst>
          </p:cNvPr>
          <p:cNvSpPr txBox="1"/>
          <p:nvPr userDrawn="1"/>
        </p:nvSpPr>
        <p:spPr>
          <a:xfrm>
            <a:off x="2788920" y="23552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2230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6845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B652CC4A-DCD8-B247-AD38-F2B8D479C240}"/>
              </a:ext>
            </a:extLst>
          </p:cNvPr>
          <p:cNvSpPr>
            <a:spLocks noGrp="1"/>
          </p:cNvSpPr>
          <p:nvPr/>
        </p:nvSpPr>
        <p:spPr bwMode="auto">
          <a:xfrm>
            <a:off x="59473" y="1063083"/>
            <a:ext cx="12192000" cy="2929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2pPr>
            <a:lvl3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3pPr>
            <a:lvl4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4pPr>
            <a:lvl5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5pPr>
            <a:lvl6pPr marL="4572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6pPr>
            <a:lvl7pPr marL="9144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7pPr>
            <a:lvl8pPr marL="13716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8pPr>
            <a:lvl9pPr marL="18288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altLang="zh-CN" sz="3500" dirty="0">
                <a:solidFill>
                  <a:srgbClr val="0B5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VRExplorer: A Model-based Approach for Automated Virtual Reality Scene Exploration and Testing</a:t>
            </a:r>
            <a:br>
              <a:rPr lang="en-US" altLang="zh-CN" sz="3500" dirty="0">
                <a:solidFill>
                  <a:srgbClr val="0B5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en-US" altLang="zh-CN" sz="3500" dirty="0">
                <a:solidFill>
                  <a:srgbClr val="0B5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500" dirty="0">
                <a:solidFill>
                  <a:srgbClr val="0B5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VR APP</a:t>
            </a:r>
            <a:r>
              <a:rPr lang="zh-CN" altLang="en-US" sz="3500" dirty="0">
                <a:solidFill>
                  <a:srgbClr val="0B51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的自动化异常检测工具设计与实现</a:t>
            </a:r>
          </a:p>
          <a:p>
            <a:pPr algn="ctr"/>
            <a:endParaRPr lang="en-US" altLang="zh-CN" sz="3500" dirty="0">
              <a:solidFill>
                <a:srgbClr val="0B512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D545DC5F-5F1F-8641-B6C5-0ED2EDF17575}"/>
              </a:ext>
            </a:extLst>
          </p:cNvPr>
          <p:cNvSpPr>
            <a:spLocks noGrp="1"/>
          </p:cNvSpPr>
          <p:nvPr/>
        </p:nvSpPr>
        <p:spPr bwMode="auto">
          <a:xfrm>
            <a:off x="1524000" y="3644614"/>
            <a:ext cx="9144000" cy="122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0" indent="0" algn="ctr" rtl="0" eaLnBrk="0" fontAlgn="base" hangingPunc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charset="0"/>
              <a:buNone/>
              <a:defRPr sz="2800">
                <a:solidFill>
                  <a:schemeClr val="tx1"/>
                </a:solidFill>
                <a:latin typeface="+mn-lt"/>
              </a:defRPr>
            </a:lvl2pPr>
            <a:lvl3pPr marL="914400" indent="0" algn="ctr" rtl="0" eaLnBrk="0" fontAlgn="base" hangingPunct="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None/>
              <a:defRPr sz="2400">
                <a:solidFill>
                  <a:schemeClr val="tx1"/>
                </a:solidFill>
                <a:latin typeface="+mn-lt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None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None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286000" indent="0" algn="ctr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None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743200" indent="0" algn="ctr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None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200400" indent="0" algn="ctr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None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657600" indent="0" algn="ctr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None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40000"/>
              </a:lnSpc>
              <a:spcBef>
                <a:spcPts val="1800"/>
              </a:spcBef>
              <a:spcAft>
                <a:spcPts val="0"/>
              </a:spcAft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朱正阳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40000"/>
              </a:lnSpc>
              <a:spcBef>
                <a:spcPts val="1800"/>
              </a:spcBef>
              <a:spcAft>
                <a:spcPts val="0"/>
              </a:spcAft>
            </a:pP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2025.3.19</a:t>
            </a:r>
          </a:p>
        </p:txBody>
      </p:sp>
    </p:spTree>
    <p:extLst>
      <p:ext uri="{BB962C8B-B14F-4D97-AF65-F5344CB8AC3E}">
        <p14:creationId xmlns:p14="http://schemas.microsoft.com/office/powerpoint/2010/main" val="405188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00"/>
    </mc:Choice>
    <mc:Fallback xmlns="">
      <p:transition spd="slow" advTm="76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6F35DDC5-37EA-734A-98BF-19D5C66F9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  <a:endParaRPr lang="zh-CN" altLang="en-US" dirty="0"/>
          </a:p>
        </p:txBody>
      </p:sp>
      <p:sp>
        <p:nvSpPr>
          <p:cNvPr id="15" name="内容占位符 14">
            <a:extLst>
              <a:ext uri="{FF2B5EF4-FFF2-40B4-BE49-F238E27FC236}">
                <a16:creationId xmlns:a16="http://schemas.microsoft.com/office/drawing/2014/main" id="{801D884F-1EB7-9C30-B109-0739733DD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09" y="1002642"/>
            <a:ext cx="11199741" cy="523220"/>
          </a:xfrm>
        </p:spPr>
        <p:txBody>
          <a:bodyPr/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Research Background</a:t>
            </a:r>
          </a:p>
        </p:txBody>
      </p:sp>
      <p:sp>
        <p:nvSpPr>
          <p:cNvPr id="21" name="内容占位符 4">
            <a:extLst>
              <a:ext uri="{FF2B5EF4-FFF2-40B4-BE49-F238E27FC236}">
                <a16:creationId xmlns:a16="http://schemas.microsoft.com/office/drawing/2014/main" id="{127B7A08-0023-E8FA-B313-9FE28D9749E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7227" y="1457606"/>
            <a:ext cx="10691829" cy="2861168"/>
          </a:xfrm>
        </p:spPr>
        <p:txBody>
          <a:bodyPr/>
          <a:lstStyle/>
          <a:p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Most of the VR apps are developed by </a:t>
            </a:r>
            <a:r>
              <a:rPr lang="en-US" altLang="zh-CN" sz="2400" b="1" dirty="0">
                <a:latin typeface="Times New Roman" panose="02020603050405020304" charset="0"/>
                <a:cs typeface="Times New Roman" panose="02020603050405020304" charset="0"/>
              </a:rPr>
              <a:t>Unity3D</a:t>
            </a: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 (one of the most popular game engines). Undeniably, there are </a:t>
            </a:r>
            <a:r>
              <a:rPr lang="en-US" altLang="zh-CN" sz="2400" b="1" dirty="0">
                <a:latin typeface="Times New Roman" panose="02020603050405020304" charset="0"/>
                <a:cs typeface="Times New Roman" panose="02020603050405020304" charset="0"/>
              </a:rPr>
              <a:t>many bugs </a:t>
            </a: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during the</a:t>
            </a:r>
            <a:r>
              <a:rPr lang="zh-CN" altLang="en-US" sz="24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developing</a:t>
            </a:r>
            <a:r>
              <a:rPr lang="zh-CN" altLang="en-US" sz="24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procedure.</a:t>
            </a:r>
          </a:p>
          <a:p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VR apps testing and bug detection is </a:t>
            </a:r>
            <a:r>
              <a:rPr lang="en-US" altLang="zh-CN" sz="2400" b="1" dirty="0">
                <a:latin typeface="Times New Roman" panose="02020603050405020304" charset="0"/>
                <a:cs typeface="Times New Roman" panose="02020603050405020304" charset="0"/>
              </a:rPr>
              <a:t>labor-intensive and time-consuming</a:t>
            </a:r>
            <a:endParaRPr lang="en-US" altLang="zh-CN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>
              <a:buNone/>
            </a:pPr>
            <a:endParaRPr kumimoji="1" lang="en-US" altLang="zh-CN" dirty="0"/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7C2244B7-F28A-40A7-8F8A-F3522FD92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7811" y="6338999"/>
            <a:ext cx="2743200" cy="365125"/>
          </a:xfrm>
        </p:spPr>
        <p:txBody>
          <a:bodyPr/>
          <a:lstStyle/>
          <a:p>
            <a:fld id="{4E334DFF-A8DE-B148-81B1-4F37B46AC470}" type="slidenum">
              <a:rPr kumimoji="1" lang="zh-CN" altLang="en-US" smtClean="0"/>
              <a:pPr/>
              <a:t>2</a:t>
            </a:fld>
            <a:endParaRPr kumimoji="1"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C796D1D-1341-EE2C-F315-3886115FE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226" y="4272196"/>
            <a:ext cx="3970012" cy="2430292"/>
          </a:xfrm>
          <a:prstGeom prst="rect">
            <a:avLst/>
          </a:prstGeom>
        </p:spPr>
      </p:pic>
      <p:pic>
        <p:nvPicPr>
          <p:cNvPr id="4" name="Picture 4" descr="VR 的图像结果">
            <a:extLst>
              <a:ext uri="{FF2B5EF4-FFF2-40B4-BE49-F238E27FC236}">
                <a16:creationId xmlns:a16="http://schemas.microsoft.com/office/drawing/2014/main" id="{DEAFA4B5-4CF2-4EB7-DDE7-D4A623705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5762" y="4212572"/>
            <a:ext cx="3350980" cy="2491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566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54"/>
    </mc:Choice>
    <mc:Fallback xmlns="">
      <p:transition spd="slow" advTm="175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3BEDA-1528-5797-CCD4-3573327AF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99D5528D-CCBC-DADB-650A-BF36E93EA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  <a:endParaRPr lang="zh-CN" altLang="en-US" dirty="0"/>
          </a:p>
        </p:txBody>
      </p:sp>
      <p:sp>
        <p:nvSpPr>
          <p:cNvPr id="15" name="内容占位符 14">
            <a:extLst>
              <a:ext uri="{FF2B5EF4-FFF2-40B4-BE49-F238E27FC236}">
                <a16:creationId xmlns:a16="http://schemas.microsoft.com/office/drawing/2014/main" id="{97E87427-7CE1-A110-43A9-22EF23F75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09" y="1002642"/>
            <a:ext cx="11199741" cy="523220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Motivation</a:t>
            </a:r>
          </a:p>
        </p:txBody>
      </p:sp>
      <p:sp>
        <p:nvSpPr>
          <p:cNvPr id="21" name="内容占位符 4">
            <a:extLst>
              <a:ext uri="{FF2B5EF4-FFF2-40B4-BE49-F238E27FC236}">
                <a16:creationId xmlns:a16="http://schemas.microsoft.com/office/drawing/2014/main" id="{68802D6A-33F9-8942-7C4C-45D739BFB00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50085" y="1383647"/>
            <a:ext cx="11322969" cy="324653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SOTA automated testing </a:t>
            </a:r>
            <a:r>
              <a:rPr lang="en-US" altLang="zh-CN" sz="2800" dirty="0">
                <a:latin typeface="Times New Roman" panose="02020603050405020304" charset="0"/>
                <a:cs typeface="Times New Roman" panose="02020603050405020304" charset="0"/>
              </a:rPr>
              <a:t>tools: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Times New Roman" panose="02020603050405020304" charset="0"/>
                <a:cs typeface="Times New Roman" panose="02020603050405020304" charset="0"/>
              </a:rPr>
              <a:t>exhibit limited performance in </a:t>
            </a:r>
            <a:r>
              <a:rPr lang="en-US" altLang="zh-CN" sz="2800" b="1" dirty="0">
                <a:latin typeface="Times New Roman" panose="02020603050405020304" charset="0"/>
                <a:cs typeface="Times New Roman" panose="02020603050405020304" charset="0"/>
              </a:rPr>
              <a:t>sophisticated scene exploration and VR interaction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Times New Roman" panose="02020603050405020304" charset="0"/>
                <a:cs typeface="Times New Roman" panose="02020603050405020304" charset="0"/>
              </a:rPr>
              <a:t>no scalability and versatility : </a:t>
            </a:r>
            <a:r>
              <a:rPr lang="en-US" altLang="zh-CN" sz="2800" dirty="0">
                <a:latin typeface="Times New Roman" panose="02020603050405020304" charset="0"/>
                <a:cs typeface="Times New Roman" panose="02020603050405020304" charset="0"/>
              </a:rPr>
              <a:t>unable to provide a general VR tool to detect different types of VR apps</a:t>
            </a:r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A8CBA943-8B54-05E8-FD23-01173BB06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7811" y="6338999"/>
            <a:ext cx="2743200" cy="365125"/>
          </a:xfrm>
        </p:spPr>
        <p:txBody>
          <a:bodyPr/>
          <a:lstStyle/>
          <a:p>
            <a:fld id="{4E334DFF-A8DE-B148-81B1-4F37B46AC470}" type="slidenum">
              <a:rPr kumimoji="1" lang="zh-CN" altLang="en-US" smtClean="0"/>
              <a:pPr/>
              <a:t>3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209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1"/>
    </mc:Choice>
    <mc:Fallback xmlns="">
      <p:transition spd="slow" advTm="126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93058-72ED-71DF-D900-8FF2D06AB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FA85808B-A2B0-C816-FDD9-225C00012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Workflow</a:t>
            </a:r>
            <a:endParaRPr lang="zh-CN" altLang="en-US" dirty="0"/>
          </a:p>
        </p:txBody>
      </p:sp>
      <p:sp>
        <p:nvSpPr>
          <p:cNvPr id="15" name="内容占位符 14">
            <a:extLst>
              <a:ext uri="{FF2B5EF4-FFF2-40B4-BE49-F238E27FC236}">
                <a16:creationId xmlns:a16="http://schemas.microsoft.com/office/drawing/2014/main" id="{92C12D53-036A-3960-D91C-657571476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09" y="1002642"/>
            <a:ext cx="11199741" cy="523220"/>
          </a:xfrm>
        </p:spPr>
        <p:txBody>
          <a:bodyPr/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Problem Target</a:t>
            </a:r>
          </a:p>
        </p:txBody>
      </p:sp>
      <p:sp>
        <p:nvSpPr>
          <p:cNvPr id="21" name="内容占位符 4">
            <a:extLst>
              <a:ext uri="{FF2B5EF4-FFF2-40B4-BE49-F238E27FC236}">
                <a16:creationId xmlns:a16="http://schemas.microsoft.com/office/drawing/2014/main" id="{A6092013-7A7F-2E0A-A6E0-5C9F8F42A97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50085" y="1525862"/>
            <a:ext cx="10691829" cy="2795958"/>
          </a:xfrm>
        </p:spPr>
        <p:txBody>
          <a:bodyPr/>
          <a:lstStyle/>
          <a:p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Design a smart enough agent that can simulate a real player to explore the scene, interact with as many as possible entities, and trigger method codes to detect underlying bugs.</a:t>
            </a:r>
          </a:p>
          <a:p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Improve evaluation metrics: Interactable Objects Coverage, Executable Line of Code (ELOC) Coverage,  Method Coverage</a:t>
            </a:r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F7185755-63BA-1638-A167-E32FB9A38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7811" y="6338999"/>
            <a:ext cx="2743200" cy="365125"/>
          </a:xfrm>
        </p:spPr>
        <p:txBody>
          <a:bodyPr/>
          <a:lstStyle/>
          <a:p>
            <a:fld id="{4E334DFF-A8DE-B148-81B1-4F37B46AC470}" type="slidenum">
              <a:rPr kumimoji="1" lang="zh-CN" altLang="en-US" smtClean="0"/>
              <a:pPr/>
              <a:t>4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4041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8"/>
    </mc:Choice>
    <mc:Fallback xmlns="">
      <p:transition spd="slow" advTm="36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7FA53-7933-5EF2-1167-25A1E160C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3EFD8467-08A4-1B77-59AF-CA676FCA8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Workflow</a:t>
            </a:r>
            <a:endParaRPr lang="zh-CN" altLang="en-US" dirty="0"/>
          </a:p>
        </p:txBody>
      </p:sp>
      <p:sp>
        <p:nvSpPr>
          <p:cNvPr id="15" name="内容占位符 14">
            <a:extLst>
              <a:ext uri="{FF2B5EF4-FFF2-40B4-BE49-F238E27FC236}">
                <a16:creationId xmlns:a16="http://schemas.microsoft.com/office/drawing/2014/main" id="{74419031-259A-FD5A-5020-1EB555594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09" y="1002642"/>
            <a:ext cx="11199741" cy="523220"/>
          </a:xfrm>
        </p:spPr>
        <p:txBody>
          <a:bodyPr/>
          <a:lstStyle/>
          <a:p>
            <a:r>
              <a:rPr lang="en-US" altLang="zh-CN" dirty="0"/>
              <a:t>Contribution and Novelty</a:t>
            </a:r>
          </a:p>
        </p:txBody>
      </p:sp>
      <p:sp>
        <p:nvSpPr>
          <p:cNvPr id="21" name="内容占位符 4">
            <a:extLst>
              <a:ext uri="{FF2B5EF4-FFF2-40B4-BE49-F238E27FC236}">
                <a16:creationId xmlns:a16="http://schemas.microsoft.com/office/drawing/2014/main" id="{30ED8ACF-D8DC-9E9F-3C41-DBBE0C40F60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50085" y="1525862"/>
            <a:ext cx="10691829" cy="2241960"/>
          </a:xfrm>
        </p:spPr>
        <p:txBody>
          <a:bodyPr/>
          <a:lstStyle/>
          <a:p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Construction of an open-source VR data set</a:t>
            </a:r>
          </a:p>
          <a:p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Mod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el-based EAT (</a:t>
            </a:r>
            <a:r>
              <a:rPr lang="en-US" altLang="zh-CN" sz="2400" u="sng" dirty="0">
                <a:latin typeface="Times New Roman" panose="02020603050405020304" charset="0"/>
                <a:cs typeface="Times New Roman" panose="02020603050405020304" charset="0"/>
              </a:rPr>
              <a:t>E</a:t>
            </a: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ntity, </a:t>
            </a:r>
            <a:r>
              <a:rPr lang="en-US" altLang="zh-CN" sz="2400" u="sng" dirty="0"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ction, </a:t>
            </a:r>
            <a:r>
              <a:rPr lang="en-US" altLang="zh-CN" sz="2400" u="sng" dirty="0">
                <a:latin typeface="Times New Roman" panose="02020603050405020304" charset="0"/>
                <a:cs typeface="Times New Roman" panose="02020603050405020304" charset="0"/>
              </a:rPr>
              <a:t>T</a:t>
            </a: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ask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) </a:t>
            </a: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framework for better </a:t>
            </a:r>
            <a:r>
              <a:rPr lang="en-US" altLang="zh-CN" sz="2400" b="1" dirty="0">
                <a:latin typeface="Times New Roman" panose="02020603050405020304" charset="0"/>
                <a:cs typeface="Times New Roman" panose="02020603050405020304" charset="0"/>
              </a:rPr>
              <a:t>scalability</a:t>
            </a: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 and ability to process </a:t>
            </a:r>
            <a:r>
              <a:rPr lang="en-US" altLang="zh-CN" sz="2400" b="1" dirty="0">
                <a:latin typeface="Times New Roman" panose="02020603050405020304" charset="0"/>
                <a:cs typeface="Times New Roman" panose="02020603050405020304" charset="0"/>
              </a:rPr>
              <a:t>sophisticated interaction</a:t>
            </a:r>
          </a:p>
          <a:p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Evaluation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 and case study to detect real-world bug</a:t>
            </a:r>
            <a:endParaRPr lang="en-US" altLang="zh-CN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5FEDCDA5-6925-3C79-0322-B1BABCEF9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7811" y="6338999"/>
            <a:ext cx="2743200" cy="365125"/>
          </a:xfrm>
        </p:spPr>
        <p:txBody>
          <a:bodyPr/>
          <a:lstStyle/>
          <a:p>
            <a:fld id="{4E334DFF-A8DE-B148-81B1-4F37B46AC470}" type="slidenum">
              <a:rPr kumimoji="1" lang="zh-CN" altLang="en-US" smtClean="0"/>
              <a:pPr/>
              <a:t>5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156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5"/>
    </mc:Choice>
    <mc:Fallback xmlns="">
      <p:transition spd="slow" advTm="33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51A72-07CE-458A-E81A-1A670834E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F65F2E96-B4C8-2583-3AF7-20FFF1E80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Workflow</a:t>
            </a:r>
            <a:endParaRPr lang="zh-CN" altLang="en-US" dirty="0"/>
          </a:p>
        </p:txBody>
      </p:sp>
      <p:sp>
        <p:nvSpPr>
          <p:cNvPr id="15" name="内容占位符 14">
            <a:extLst>
              <a:ext uri="{FF2B5EF4-FFF2-40B4-BE49-F238E27FC236}">
                <a16:creationId xmlns:a16="http://schemas.microsoft.com/office/drawing/2014/main" id="{966B1234-1FEA-4642-0B96-8578F4D87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09" y="1002642"/>
            <a:ext cx="11199741" cy="523220"/>
          </a:xfrm>
        </p:spPr>
        <p:txBody>
          <a:bodyPr/>
          <a:lstStyle/>
          <a:p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Overview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78880B1B-4B05-78FE-B3AA-538E7FD04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7811" y="6338999"/>
            <a:ext cx="2743200" cy="365125"/>
          </a:xfrm>
        </p:spPr>
        <p:txBody>
          <a:bodyPr/>
          <a:lstStyle/>
          <a:p>
            <a:fld id="{4E334DFF-A8DE-B148-81B1-4F37B46AC470}" type="slidenum">
              <a:rPr kumimoji="1" lang="zh-CN" altLang="en-US" smtClean="0"/>
              <a:pPr/>
              <a:t>6</a:t>
            </a:fld>
            <a:endParaRPr kumimoji="1"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33CAC43-C36F-F84C-CCEA-850AAEC10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20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9"/>
    </mc:Choice>
    <mc:Fallback xmlns="">
      <p:transition spd="slow" advTm="33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70171-BADD-DC2F-742B-594EF4B6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B2EF7C65-0BFF-0FEF-05DD-03693C083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Workflow</a:t>
            </a:r>
            <a:endParaRPr lang="zh-CN" altLang="en-US" dirty="0"/>
          </a:p>
        </p:txBody>
      </p:sp>
      <p:sp>
        <p:nvSpPr>
          <p:cNvPr id="15" name="内容占位符 14">
            <a:extLst>
              <a:ext uri="{FF2B5EF4-FFF2-40B4-BE49-F238E27FC236}">
                <a16:creationId xmlns:a16="http://schemas.microsoft.com/office/drawing/2014/main" id="{3F8A2F3A-7281-E42E-CE5D-FDEF7EB4E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09" y="1002642"/>
            <a:ext cx="11199741" cy="523220"/>
          </a:xfrm>
        </p:spPr>
        <p:txBody>
          <a:bodyPr/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Model Abstraction</a:t>
            </a:r>
          </a:p>
        </p:txBody>
      </p:sp>
      <p:sp>
        <p:nvSpPr>
          <p:cNvPr id="21" name="内容占位符 4">
            <a:extLst>
              <a:ext uri="{FF2B5EF4-FFF2-40B4-BE49-F238E27FC236}">
                <a16:creationId xmlns:a16="http://schemas.microsoft.com/office/drawing/2014/main" id="{379DA1D3-10A5-7D14-09F5-E7FCDA2F8EE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50085" y="1525862"/>
            <a:ext cx="10691829" cy="1953868"/>
          </a:xfrm>
        </p:spPr>
        <p:txBody>
          <a:bodyPr/>
          <a:lstStyle/>
          <a:p>
            <a:r>
              <a:rPr lang="en-US" altLang="zh-CN" sz="2800" dirty="0">
                <a:latin typeface="Times New Roman" panose="02020603050405020304" charset="0"/>
                <a:cs typeface="Times New Roman" panose="02020603050405020304" charset="0"/>
              </a:rPr>
              <a:t>Abstraction Action</a:t>
            </a:r>
          </a:p>
          <a:p>
            <a:r>
              <a:rPr lang="en-US" altLang="zh-CN" sz="2800" dirty="0">
                <a:latin typeface="Times New Roman" panose="02020603050405020304" charset="0"/>
                <a:cs typeface="Times New Roman" panose="02020603050405020304" charset="0"/>
              </a:rPr>
              <a:t>Abstraction Object Interaction Feature</a:t>
            </a:r>
          </a:p>
          <a:p>
            <a:endParaRPr lang="en-US" altLang="zh-CN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2C949D53-9992-2D52-5916-2FB713220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7811" y="6338999"/>
            <a:ext cx="2743200" cy="365125"/>
          </a:xfrm>
        </p:spPr>
        <p:txBody>
          <a:bodyPr/>
          <a:lstStyle/>
          <a:p>
            <a:fld id="{4E334DFF-A8DE-B148-81B1-4F37B46AC470}" type="slidenum">
              <a:rPr kumimoji="1" lang="zh-CN" altLang="en-US" smtClean="0"/>
              <a:pPr/>
              <a:t>7</a:t>
            </a:fld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CEB07876-5769-3330-1A34-8685ACC3E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85" y="3172096"/>
            <a:ext cx="5096933" cy="2196768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89E4DD74-FA7B-0839-784A-4A29106DC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6579" y="3278908"/>
            <a:ext cx="5322484" cy="216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35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3"/>
    </mc:Choice>
    <mc:Fallback xmlns="">
      <p:transition spd="slow" advTm="27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B3914-C216-2B05-2856-25019A822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DF3D85A8-1B7C-9156-0AAA-66B2313F9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Workflow</a:t>
            </a:r>
            <a:endParaRPr lang="zh-CN" altLang="en-US" dirty="0"/>
          </a:p>
        </p:txBody>
      </p:sp>
      <p:sp>
        <p:nvSpPr>
          <p:cNvPr id="15" name="内容占位符 14">
            <a:extLst>
              <a:ext uri="{FF2B5EF4-FFF2-40B4-BE49-F238E27FC236}">
                <a16:creationId xmlns:a16="http://schemas.microsoft.com/office/drawing/2014/main" id="{175E4E7B-8D57-7D8D-44FA-1DE158DA9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09" y="1002642"/>
            <a:ext cx="11199741" cy="523220"/>
          </a:xfrm>
        </p:spPr>
        <p:txBody>
          <a:bodyPr/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Entity-Action-Task Framework</a:t>
            </a:r>
          </a:p>
        </p:txBody>
      </p:sp>
      <p:sp>
        <p:nvSpPr>
          <p:cNvPr id="21" name="内容占位符 4">
            <a:extLst>
              <a:ext uri="{FF2B5EF4-FFF2-40B4-BE49-F238E27FC236}">
                <a16:creationId xmlns:a16="http://schemas.microsoft.com/office/drawing/2014/main" id="{F71A9D8F-9492-A02E-7277-FAFEB4C91F8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50085" y="1525862"/>
            <a:ext cx="10691829" cy="1687963"/>
          </a:xfrm>
        </p:spPr>
        <p:txBody>
          <a:bodyPr/>
          <a:lstStyle/>
          <a:p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Base Entity interface for abstracting different VR MonoBehaviour Class </a:t>
            </a:r>
          </a:p>
          <a:p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Base Action class for abstracting indivisible action of VRAgent </a:t>
            </a:r>
          </a:p>
          <a:p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Task Generator for generating List&lt;BaseAction&gt; result of the input BaseEntity[];</a:t>
            </a:r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89BDB20F-4028-5F5C-C639-E3595F69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7811" y="6338999"/>
            <a:ext cx="2743200" cy="365125"/>
          </a:xfrm>
        </p:spPr>
        <p:txBody>
          <a:bodyPr/>
          <a:lstStyle/>
          <a:p>
            <a:fld id="{4E334DFF-A8DE-B148-81B1-4F37B46AC470}" type="slidenum">
              <a:rPr kumimoji="1" lang="zh-CN" altLang="en-US" smtClean="0"/>
              <a:pPr/>
              <a:t>8</a:t>
            </a:fld>
            <a:endParaRPr kumimoji="1"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D1C3554-5F52-EADE-9ABC-B127D409E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8468" y="3159611"/>
            <a:ext cx="7875062" cy="3475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733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01"/>
    </mc:Choice>
    <mc:Fallback xmlns="">
      <p:transition spd="slow" advTm="360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75D28-DA12-8370-3579-E104B793F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4EE8585D-F7E3-E59D-BBF3-EEA8D5DC3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Workflow</a:t>
            </a:r>
            <a:endParaRPr lang="zh-CN" altLang="en-US" dirty="0"/>
          </a:p>
        </p:txBody>
      </p:sp>
      <p:sp>
        <p:nvSpPr>
          <p:cNvPr id="15" name="内容占位符 14">
            <a:extLst>
              <a:ext uri="{FF2B5EF4-FFF2-40B4-BE49-F238E27FC236}">
                <a16:creationId xmlns:a16="http://schemas.microsoft.com/office/drawing/2014/main" id="{920D9762-DB37-73A8-C596-75B512893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09" y="1002642"/>
            <a:ext cx="11199741" cy="523220"/>
          </a:xfrm>
        </p:spPr>
        <p:txBody>
          <a:bodyPr/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Task Model</a:t>
            </a:r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8CBA3BBB-C97F-508F-8F06-47A247445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7811" y="6338999"/>
            <a:ext cx="2743200" cy="365125"/>
          </a:xfrm>
        </p:spPr>
        <p:txBody>
          <a:bodyPr/>
          <a:lstStyle/>
          <a:p>
            <a:fld id="{4E334DFF-A8DE-B148-81B1-4F37B46AC470}" type="slidenum">
              <a:rPr kumimoji="1" lang="zh-CN" altLang="en-US" smtClean="0"/>
              <a:pPr/>
              <a:t>9</a:t>
            </a:fld>
            <a:endParaRPr kumimoji="1" lang="zh-CN" altLang="en-US" dirty="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9275E55F-97E5-5465-24F2-7DECCC3DF705}"/>
              </a:ext>
            </a:extLst>
          </p:cNvPr>
          <p:cNvSpPr txBox="1"/>
          <p:nvPr/>
        </p:nvSpPr>
        <p:spPr>
          <a:xfrm>
            <a:off x="1793255" y="1585993"/>
            <a:ext cx="8178800" cy="2292935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altLang="zh-CN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private List&lt;BaseAction&gt; </a:t>
            </a:r>
            <a:r>
              <a:rPr lang="en-US" altLang="zh-CN" sz="11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GrabAndShootGunTask</a:t>
            </a:r>
            <a:r>
              <a:rPr lang="en-US" altLang="zh-CN" sz="11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IGrabbableEntity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grabbableEntity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ITriggerableEntity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triggerableEntity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BaseAction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BaseAction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&gt;(){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MoveAction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navMeshAgent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moveSpeed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grabbableEntity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GrabAction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leftHandController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grabbableEntity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BaseAction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&gt;(){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ParallelAction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11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BaseAction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&gt;(){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MoveAction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navMeshAgent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moveSpeed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GetRandomTwitchTarget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en-US" altLang="zh-C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)),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TriggerAction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0.5f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triggerableEntity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})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})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zh-C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EDA9C8-CF97-77BE-42D1-C086964ED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477" y="3966713"/>
            <a:ext cx="7382435" cy="249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017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9AD16-0BDB-997E-4561-3E33DC387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A47D2FE9-E2BF-35FF-C16E-C38588402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Experiment</a:t>
            </a:r>
            <a:endParaRPr lang="zh-CN" altLang="en-US" dirty="0"/>
          </a:p>
        </p:txBody>
      </p:sp>
      <p:sp>
        <p:nvSpPr>
          <p:cNvPr id="15" name="内容占位符 14">
            <a:extLst>
              <a:ext uri="{FF2B5EF4-FFF2-40B4-BE49-F238E27FC236}">
                <a16:creationId xmlns:a16="http://schemas.microsoft.com/office/drawing/2014/main" id="{73731E76-27F3-CAD6-FB20-21DAD7DDB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09" y="1002642"/>
            <a:ext cx="11199741" cy="523220"/>
          </a:xfrm>
        </p:spPr>
        <p:txBody>
          <a:bodyPr/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RQ1: Code Coverage &amp; Efficiency</a:t>
            </a:r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A063AB2D-7154-D3D9-FF7B-A56720A27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7811" y="6338999"/>
            <a:ext cx="2743200" cy="365125"/>
          </a:xfrm>
        </p:spPr>
        <p:txBody>
          <a:bodyPr/>
          <a:lstStyle/>
          <a:p>
            <a:fld id="{4E334DFF-A8DE-B148-81B1-4F37B46AC470}" type="slidenum">
              <a:rPr kumimoji="1" lang="zh-CN" altLang="en-US" smtClean="0"/>
              <a:pPr/>
              <a:t>10</a:t>
            </a:fld>
            <a:endParaRPr kumimoji="1"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79BF824-0E8E-ACF1-73D0-F8C3E6A94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288" y="1599820"/>
            <a:ext cx="8850406" cy="259998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B321162-9395-3DC0-4C9A-5346213EA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144" y="4253595"/>
            <a:ext cx="10618694" cy="242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40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7E5E8-1F8E-CB53-8C07-7384BFB53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7E5C6BBA-5E2C-BDDF-3E3F-BF792D575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Experiment</a:t>
            </a:r>
            <a:endParaRPr lang="zh-CN" altLang="en-US" dirty="0"/>
          </a:p>
        </p:txBody>
      </p:sp>
      <p:sp>
        <p:nvSpPr>
          <p:cNvPr id="15" name="内容占位符 14">
            <a:extLst>
              <a:ext uri="{FF2B5EF4-FFF2-40B4-BE49-F238E27FC236}">
                <a16:creationId xmlns:a16="http://schemas.microsoft.com/office/drawing/2014/main" id="{37688441-8644-4885-FD61-9E250FAA1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09" y="1002642"/>
            <a:ext cx="11199741" cy="523220"/>
          </a:xfrm>
        </p:spPr>
        <p:txBody>
          <a:bodyPr/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RQ1: Code Coverage &amp; Efficiency</a:t>
            </a:r>
          </a:p>
        </p:txBody>
      </p:sp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02B26FDD-2265-EFCD-CBB8-E6F0A015E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7811" y="6338999"/>
            <a:ext cx="2743200" cy="365125"/>
          </a:xfrm>
        </p:spPr>
        <p:txBody>
          <a:bodyPr/>
          <a:lstStyle/>
          <a:p>
            <a:fld id="{4E334DFF-A8DE-B148-81B1-4F37B46AC470}" type="slidenum">
              <a:rPr kumimoji="1" lang="zh-CN" altLang="en-US" smtClean="0"/>
              <a:pPr/>
              <a:t>11</a:t>
            </a:fld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63E9128-783A-4807-2944-6F95C81A9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248" y="1525862"/>
            <a:ext cx="7061394" cy="525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49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FE6B46A2-7869-53DD-602E-D7DA1197C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848" y="423746"/>
            <a:ext cx="4963901" cy="601050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392A706-47A1-1D1E-621E-BEF79A6E6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206" y="1367418"/>
            <a:ext cx="6172327" cy="412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811837"/>
      </p:ext>
    </p:extLst>
  </p:cSld>
  <p:clrMapOvr>
    <a:masterClrMapping/>
  </p:clrMapOvr>
</p:sld>
</file>

<file path=ppt/theme/theme1.xml><?xml version="1.0" encoding="utf-8"?>
<a:theme xmlns:a="http://schemas.openxmlformats.org/drawingml/2006/main" name="2_自定义设计方案">
  <a:themeElements>
    <a:clrScheme name="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20221230Security Assessment of Metaverse App</Template>
  <TotalTime>951</TotalTime>
  <Words>427</Words>
  <Application>Microsoft Office PowerPoint</Application>
  <PresentationFormat>宽屏</PresentationFormat>
  <Paragraphs>75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等线</vt:lpstr>
      <vt:lpstr>微软雅黑</vt:lpstr>
      <vt:lpstr>微软雅黑</vt:lpstr>
      <vt:lpstr>Arial</vt:lpstr>
      <vt:lpstr>Consolas</vt:lpstr>
      <vt:lpstr>Times New Roman</vt:lpstr>
      <vt:lpstr>Wingdings</vt:lpstr>
      <vt:lpstr>2_自定义设计方案</vt:lpstr>
      <vt:lpstr>PowerPoint 演示文稿</vt:lpstr>
      <vt:lpstr>Introduction</vt:lpstr>
      <vt:lpstr>Introduction</vt:lpstr>
      <vt:lpstr>Workflow</vt:lpstr>
      <vt:lpstr>Workflow</vt:lpstr>
      <vt:lpstr>Workflow</vt:lpstr>
      <vt:lpstr>Workflow</vt:lpstr>
      <vt:lpstr>Workflow</vt:lpstr>
      <vt:lpstr>Workflow</vt:lpstr>
      <vt:lpstr>Experiment</vt:lpstr>
      <vt:lpstr>Experiment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正阳 朱</dc:creator>
  <cp:lastModifiedBy>正阳 朱</cp:lastModifiedBy>
  <cp:revision>184</cp:revision>
  <dcterms:created xsi:type="dcterms:W3CDTF">2025-01-19T05:05:40Z</dcterms:created>
  <dcterms:modified xsi:type="dcterms:W3CDTF">2025-03-17T12:23:25Z</dcterms:modified>
</cp:coreProperties>
</file>